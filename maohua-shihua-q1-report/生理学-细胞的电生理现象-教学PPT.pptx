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0">
                <a:solidFill>
                  <a:srgbClr val="CFE4F8"/>
                </a:solidFill>
                <a:latin typeface="微软雅黑"/>
              </a:rPr>
              <a:t>《生理学》</a:t>
            </a:r>
          </a:p>
          <a:p>
            <a:pPr algn="ctr">
              <a:lnSpc>
                <a:spcPct val="112000"/>
              </a:lnSpc>
            </a:pPr>
            <a:r>
              <a:rPr sz="5400" b="1">
                <a:solidFill>
                  <a:srgbClr val="FFFFFF"/>
                </a:solidFill>
                <a:latin typeface="微软雅黑"/>
              </a:rPr>
              <a:t>细胞的电生理现象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0">
                <a:solidFill>
                  <a:srgbClr val="CFE4F8"/>
                </a:solidFill>
                <a:latin typeface="微软雅黑"/>
              </a:rPr>
              <a:t>第三章 · 第二节 · 本科临床医学专业教学课件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>
                <a:solidFill>
                  <a:srgbClr val="FFFFFF"/>
                </a:solidFill>
                <a:latin typeface="微软雅黑"/>
              </a:rPr>
              <a:t>授课对象：临床医学大二本科生    ｜    课时：1次课 / 45分钟</a:t>
            </a:r>
          </a:p>
          <a:p>
            <a:pPr algn="ctr">
              <a:lnSpc>
                <a:spcPct val="112000"/>
              </a:lnSpc>
            </a:pPr>
            <a:r>
              <a:rPr sz="1800" b="0">
                <a:solidFill>
                  <a:srgbClr val="CFE4F8"/>
                </a:solidFill>
                <a:latin typeface="微软雅黑"/>
              </a:rPr>
              <a:t>授课人：×××    ｜    医学院生理学教研室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9EC8EC"/>
                </a:solidFill>
                <a:latin typeface="微软雅黑"/>
              </a:rPr>
              <a:t>【第1页｜封面页】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338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目录 ·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B7B8D"/>
                </a:solidFill>
                <a:latin typeface="微软雅黑"/>
              </a:rPr>
              <a:t>2/20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92840" cy="676656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E2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868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1A6FC4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051560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243447"/>
                </a:solidFill>
                <a:latin typeface="微软雅黑"/>
              </a:rPr>
              <a:t>导入与基础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078992"/>
            <a:ext cx="6949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B7B8D"/>
                </a:solidFill>
                <a:latin typeface="微软雅黑"/>
              </a:rPr>
              <a:t>为什么学电生理 / 离子跨膜转运 / 钠钾泵 / Nernst方程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64792"/>
            <a:ext cx="11292840" cy="676656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E2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37944"/>
            <a:ext cx="868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1A6FC4"/>
                </a:solidFill>
                <a:latin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810512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243447"/>
                </a:solidFill>
                <a:latin typeface="微软雅黑"/>
              </a:rPr>
              <a:t>静息电位 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37944"/>
            <a:ext cx="6949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B7B8D"/>
                </a:solidFill>
                <a:latin typeface="微软雅黑"/>
              </a:rPr>
              <a:t>定义数值 / 极化·超极化·去极化·复极化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23744"/>
            <a:ext cx="11292840" cy="676656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E2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96896"/>
            <a:ext cx="868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1A6FC4"/>
                </a:solidFill>
                <a:latin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569464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243447"/>
                </a:solidFill>
                <a:latin typeface="微软雅黑"/>
              </a:rPr>
              <a:t>动作电位 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96896"/>
            <a:ext cx="6949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B7B8D"/>
                </a:solidFill>
                <a:latin typeface="微软雅黑"/>
              </a:rPr>
              <a:t>定义特征 / 时相拆解 / 离子机制 / 阈电位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82696"/>
            <a:ext cx="11292840" cy="676656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E2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55848"/>
            <a:ext cx="868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1A6FC4"/>
                </a:solidFill>
                <a:latin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328416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243447"/>
                </a:solidFill>
                <a:latin typeface="微软雅黑"/>
              </a:rPr>
              <a:t>传导与局部电位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355848"/>
            <a:ext cx="6949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B7B8D"/>
                </a:solidFill>
                <a:latin typeface="微软雅黑"/>
              </a:rPr>
              <a:t>局部电流学说 / 跳跃式传导 / 局部电位 / 对比表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41648"/>
            <a:ext cx="11292840" cy="676656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E2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14800"/>
            <a:ext cx="868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1A6FC4"/>
                </a:solidFill>
                <a:latin typeface="微软雅黑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087368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243447"/>
                </a:solidFill>
                <a:latin typeface="微软雅黑"/>
              </a:rPr>
              <a:t>兴奋性周期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114800"/>
            <a:ext cx="6949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B7B8D"/>
                </a:solidFill>
                <a:latin typeface="微软雅黑"/>
              </a:rPr>
              <a:t>绝对不应期·相对不应期·超常期·低常期 / 最高兴奋频率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00600"/>
            <a:ext cx="11292840" cy="676656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E2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73752"/>
            <a:ext cx="868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1A6FC4"/>
                </a:solidFill>
                <a:latin typeface="微软雅黑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846320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243447"/>
                </a:solidFill>
                <a:latin typeface="微软雅黑"/>
              </a:rPr>
              <a:t>临床联系与考点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873752"/>
            <a:ext cx="6949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B7B8D"/>
                </a:solidFill>
                <a:latin typeface="微软雅黑"/>
              </a:rPr>
              <a:t>心电肌电 / 利多卡因 / 高低钾血症 / 易错辨析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559552"/>
            <a:ext cx="11292840" cy="676656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E2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632704"/>
            <a:ext cx="868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1A6FC4"/>
                </a:solidFill>
                <a:latin typeface="微软雅黑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605272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243447"/>
                </a:solidFill>
                <a:latin typeface="微软雅黑"/>
              </a:rPr>
              <a:t>小结与作业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632704"/>
            <a:ext cx="6949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B7B8D"/>
                </a:solidFill>
                <a:latin typeface="微软雅黑"/>
              </a:rPr>
              <a:t>框架小结 / 课后思考 / 参考文献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338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导入：为什么要学细胞电生理？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B7B8D"/>
                </a:solidFill>
                <a:latin typeface="微软雅黑"/>
              </a:rPr>
              <a:t>3/20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临床现象的共同底层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730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心搏、思维、随意运动——本质都是细胞膜电位变化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心电图ECG、肌电图EMG、脑电图EEG = 大量细胞电活动的体表总和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166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D64545"/>
                </a:solidFill>
                <a:latin typeface="微软雅黑"/>
              </a:rPr>
              <a:t>★考点：电生理是诊断学（心电/肌电/神经传导）的理论基石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9424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一次课你要拿到的四把钥匙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9232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静息电位怎么产生（RP机制）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950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动作电位怎么发生与传导（AP机制+传导）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8668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局部电位是什么、和AP差在哪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8386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兴奋性如何随时间周期性变化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81628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衔接临床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24528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麻醉、抗心律失常、电解质紊乱——全部回归到本节机制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914400"/>
            <a:ext cx="3429000" cy="21031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969264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A6FC4"/>
                </a:solidFill>
                <a:latin typeface="微软雅黑"/>
              </a:rPr>
              <a:t>配图建议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1280160"/>
            <a:ext cx="3209544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43447"/>
                </a:solidFill>
                <a:latin typeface="微软雅黑"/>
              </a:rPr>
              <a:t>三联卡片式示意图：左「心脏搏动」中「神经信号」右「骨骼肌收缩」，底部汇聚到蓝色图标「细胞膜电位变化」，向下发散为ECG/EMG/EEG三条波形曲线。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145536"/>
            <a:ext cx="3429000" cy="2670048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3200400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A35A1A"/>
                </a:solidFill>
                <a:latin typeface="微软雅黑"/>
              </a:rPr>
              <a:t>教师备注（口头讲解话术）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493008"/>
            <a:ext cx="3209544" cy="22494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4A12"/>
                </a:solidFill>
                <a:latin typeface="微软雅黑"/>
              </a:rPr>
              <a:t>开场提问：「为什么心脏起搏点能自动节律性跳动？为什么局麻药能止痛？」先抛问题留悬念，本节课结束时回收答案。强调：这节课听懂，后面诊断学心电图、麻醉学局麻药就通了一半。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338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前置基础：离子跨膜转运 · 钠钾泵 · 离子平衡电位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B7B8D"/>
                </a:solidFill>
                <a:latin typeface="微软雅黑"/>
              </a:rPr>
              <a:t>4/20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① 细胞膜离子跨膜转运（回顾）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730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被动转运：顺浓度差，经通道/载体，不耗能（易化扩散）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主动转运：逆浓度差，需耗能——钠钾泵（Na⁺-K⁺-ATPase）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52244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② 钠钾泵（★熟悉）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9514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每分解1个ATP：泵出3个Na⁺、泵入2个K⁺ → 生电性（净外向电流）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9232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建立并维持膜内外Na⁺/K⁺浓度差（胞外高Na⁺、胞内高K⁺）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950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D64545"/>
                </a:solidFill>
                <a:latin typeface="微软雅黑"/>
              </a:rPr>
              <a:t>★考点：浓度差是「势能库」，AP/RP的能量根源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87268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③ 离子平衡电位（Nernst方程·只讲意义）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30168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意义：某离子在浓度差（外推力）与电位差（回拉力）平衡时的跨膜电位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27348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E=RT/zF·ln(Co/Ci)——本科只记：浓度决定平衡电位，不推导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24528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例：K⁺平衡电位Eₖ≈-90mV，与RP(-70~-90mV)接近 → RP主要由K⁺决定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914400"/>
            <a:ext cx="3429000" cy="21031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969264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A6FC4"/>
                </a:solidFill>
                <a:latin typeface="微软雅黑"/>
              </a:rPr>
              <a:t>配图建议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1280160"/>
            <a:ext cx="3209544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43447"/>
                </a:solidFill>
                <a:latin typeface="微软雅黑"/>
              </a:rPr>
              <a:t>左：细胞膜双层+通道蛋白示意，标Na⁺(胞外高)/K⁺(胞内高)浓度箭头；中：钠钾泵卡通，3个Na⁺箭头向外、2个K⁺向内，旁挂ATP→ADP；右：天平图——浓度差(上箭头)与电位差(下箭头)平衡，指针指Eₖ=-90mV。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145536"/>
            <a:ext cx="3429000" cy="2670048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3200400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A35A1A"/>
                </a:solidFill>
                <a:latin typeface="微软雅黑"/>
              </a:rPr>
              <a:t>教师备注（口头讲解话术）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493008"/>
            <a:ext cx="3209544" cy="22494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4A12"/>
                </a:solidFill>
                <a:latin typeface="微软雅黑"/>
              </a:rPr>
              <a:t>钠钾泵用「电梯」比喻：3出2入像每次上下楼都净送一个人到楼下（生电）。Nernst方程板书只写一行式子+一句结论：「某种离子的平衡电位，只取决于膜两侧该离子的浓度比」，不做数学推导，防止学生畏难。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338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静息电位 Resting Potential：定义 · 数值 · 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B7B8D"/>
                </a:solidFill>
                <a:latin typeface="微软雅黑"/>
              </a:rPr>
              <a:t>5/20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定义与数值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730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定义：细胞未受刺激时，膜两侧外正内负的电位差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数值：神经/骨骼肌细胞约-70～-90mV（哺乳动物骨骼肌约-90mV）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166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D64545"/>
                </a:solidFill>
                <a:latin typeface="微软雅黑"/>
              </a:rPr>
              <a:t>★考点：「安静状态、外正内负、K⁺背景电位」三要素背诵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9424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产生条件（先条件→离子流→电位）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9232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条件①：膜两侧K⁺/Na⁺浓度差（钠钾泵维持）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950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条件②：安静时膜对K⁺通透大（K⁺漏通道开放）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8668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离子流：K⁺沿浓度差外流 → 正电荷外积 → 膜内负电位升高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8386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电位变化：外流受电位差阻挡，达Eₖ时净电流=0 → 稳定于Eₖ附近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81628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特点与略偏离Eₖ的原因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24528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特点：稳定、不波动；是AP发生的「起跑线」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21708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RP略高于Eₖ：安静时少量Na⁺内流 + 钠钾泵生电性贡献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914400"/>
            <a:ext cx="3429000" cy="21031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969264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A6FC4"/>
                </a:solidFill>
                <a:latin typeface="微软雅黑"/>
              </a:rPr>
              <a:t>配图建议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1280160"/>
            <a:ext cx="3209544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43447"/>
                </a:solidFill>
                <a:latin typeface="微软雅黑"/>
              </a:rPr>
              <a:t>中央细胞剖面图：膜外标「+」、膜内标「−」；K⁺通过漏通道向外扩散(粗箭头)，Na⁺漏入(细虚线)；右侧微电位计指针显示-70mV；底部小图：钠钾泵维持浓度梯度(Na⁺向外、K⁺向内循环箭头)。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3145536"/>
            <a:ext cx="3429000" cy="2670048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3200400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A35A1A"/>
                </a:solidFill>
                <a:latin typeface="微软雅黑"/>
              </a:rPr>
              <a:t>教师备注（口头讲解话术）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3493008"/>
            <a:ext cx="3209544" cy="22494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4A12"/>
                </a:solidFill>
                <a:latin typeface="微软雅黑"/>
              </a:rPr>
              <a:t>严格按「条件→离子流动→电位变化」三步讲，语速放慢。板书画时间轴：K⁺外流箭头逐步变短，直到被电位差完全抵消——「拔河平衡」比喻。强调负号：膜内相对膜外为负，记的是膜内电位。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338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静息电位补充：极化 · 超极化 · 去极化 · 复极化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B7B8D"/>
                </a:solidFill>
                <a:latin typeface="微软雅黑"/>
              </a:rPr>
              <a:t>6/20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四个概念（★考点·必背方向）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730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极化 Polarization：静息时外正内负的稳态（基线，-70mV）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去极化 Depolarization：膜内负电位减小（-70→0），向0靠近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166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反极化/超射 Overshoot：膜内转为正电位（0→+30mV）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复极化 Repolarization：从峰值恢复到外正内负（+30→-70mV）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4602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超极化 Hyperpolarization：膜内负电位比静息更负（-70→-90mV）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43784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方向速记（★易错）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8668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「去」=去掉负电（向0走）；「超」=超过静息（更负）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8386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去极化/复极化的参照点都是静息电位水平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8104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后电位阶段的去极化称「负后电位」、超极化称「正后电位」（结合P8）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914400"/>
            <a:ext cx="3429000" cy="21031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969264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A6FC4"/>
                </a:solidFill>
                <a:latin typeface="微软雅黑"/>
              </a:rPr>
              <a:t>配图建议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1280160"/>
            <a:ext cx="3209544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43447"/>
                </a:solidFill>
                <a:latin typeface="微软雅黑"/>
              </a:rPr>
              <a:t>坐标系示意图：纵轴电位(mV)、横轴时间；静息基线-70mV(标「极化」)，上升段标「去极化」，0以上标「反极化/超射」，下降段标「复极化」，下凹到-90mV处标「超极化」，不同颜色箭头标注方向。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3145536"/>
            <a:ext cx="3429000" cy="2670048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3200400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A35A1A"/>
                </a:solidFill>
                <a:latin typeface="微软雅黑"/>
              </a:rPr>
              <a:t>教师备注（口头讲解话术）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3493008"/>
            <a:ext cx="3209544" cy="22494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4A12"/>
                </a:solidFill>
                <a:latin typeface="微软雅黑"/>
              </a:rPr>
              <a:t>让学生用手比划：手掌平放=极化；抬起(负值变小)=去极化；翻正=反极化；放回=复极化；压低=超极化。课堂快问快答：「-90mV相比-70mV是?」(超极化)——当堂检测记忆。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338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动作电位 Action Potential：定义 · 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B7B8D"/>
                </a:solidFill>
                <a:latin typeface="微软雅黑"/>
              </a:rPr>
              <a:t>7/20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730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细胞受阈刺激/阈上刺激后，在RP基础上产生的快速、可传播的电位波动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波形：去极相→反极化→复极相（锋电位+后电位）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52244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三大特征（★考点·全或无）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9514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① 全或无：刺激达阈强度才有AP；一旦产生，幅度恒定，不随刺激增强而增大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9232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② 不衰减传导：沿膜传播时幅度、波形保持不变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950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③ 脉冲式：锋电位之后有绝对不应期 → 两次AP互不融合，呈脉冲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8668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④ 传导靠局部电流+阈电位机制保证（P11展开）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84448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与阈下刺激关系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27348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阈下刺激→只引起局部电位，不能产生AP（引出P12）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914400"/>
            <a:ext cx="3429000" cy="21031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969264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A6FC4"/>
                </a:solidFill>
                <a:latin typeface="微软雅黑"/>
              </a:rPr>
              <a:t>配图建议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1280160"/>
            <a:ext cx="3209544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43447"/>
                </a:solidFill>
                <a:latin typeface="微软雅黑"/>
              </a:rPr>
              <a:t>经典AP双相波形图：纵轴-90~+40mV、横轴时间；标注静息(-70)、锋电位(陡段)、负后电位、正后电位；三张特征小图标(全开的门/等幅传播箭头/脉冲串)配文字标签。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3145536"/>
            <a:ext cx="3429000" cy="2670048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3200400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A35A1A"/>
                </a:solidFill>
                <a:latin typeface="微软雅黑"/>
              </a:rPr>
              <a:t>教师备注（口头讲解话术）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3493008"/>
            <a:ext cx="3209544" cy="22494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4A12"/>
                </a:solidFill>
                <a:latin typeface="微软雅黑"/>
              </a:rPr>
              <a:t>「全或无」用门禁比喻：门票(刺激)够阈值门全开(AP爆发)，不够就完全不开；门一旦开了，开多大不由票多寡决定。强调临床意义：神经编码靠频率不靠幅度。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338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动作电位时相拆解：去极相 · 反极化 · 复极相 · 后电位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B7B8D"/>
                </a:solidFill>
                <a:latin typeface="微软雅黑"/>
              </a:rPr>
              <a:t>8/20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锋电位（Spike）——AP主体，可触发传导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730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① 去极相(上升支)：-70→0mV，Na⁺快速内流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② 反极化/超射：0→+30mV，膜内变正（峰）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166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③ 复极相(下降支)：+30→-70mV，K⁺快速外流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D64545"/>
                </a:solidFill>
                <a:latin typeface="微软雅黑"/>
              </a:rPr>
              <a:t>★考点：锋电位=AP中「全或无、传导」的有效成分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46604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后电位（After-potential）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950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负后电位：复极末期膜电位低于静息前的轻度去极化残留（≈轻度去极化状态）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8668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正后电位：短暂超极化，膜电位比静息更负，然后回基线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8386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后电位与兴奋性周期密切相关（衔接P14）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81628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时相—离子对应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24528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去极相=Na⁺内流；复极相=K⁺外流；负/正后电位=泵恢复+通道门控动力学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914400"/>
            <a:ext cx="3429000" cy="21031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969264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A6FC4"/>
                </a:solidFill>
                <a:latin typeface="微软雅黑"/>
              </a:rPr>
              <a:t>配图建议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1280160"/>
            <a:ext cx="3209544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43447"/>
                </a:solidFill>
                <a:latin typeface="微软雅黑"/>
              </a:rPr>
              <a:t>大幅AP波形分段上色图：①②③标号在上升、峰、下降段；④负后电位(浅红)、⑤正后电位(浅蓝)圈出；图下两列小字：左「离子：Na⁺内流→K⁺外流」右「电位方向：去极→反极→复极→后电位」。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145536"/>
            <a:ext cx="3429000" cy="2670048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3200400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A35A1A"/>
                </a:solidFill>
                <a:latin typeface="微软雅黑"/>
              </a:rPr>
              <a:t>教师备注（口头讲解话术）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493008"/>
            <a:ext cx="3209544" cy="22494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4A12"/>
                </a:solidFill>
                <a:latin typeface="微软雅黑"/>
              </a:rPr>
              <a:t>板书画完整AP波形，逐段上色：红=去极相、绿=复极相、黄=后电位。提示考点：负后电位其实处于「轻度去极化」方向(所以兴奋性高)，正后电位是超极化方向(兴奋性低)——为P14埋伏笔。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338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动作电位离子机制：电压门控Na⁺/K⁺通道开闭时序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B7B8D"/>
                </a:solidFill>
                <a:latin typeface="微软雅黑"/>
              </a:rPr>
              <a:t>9/20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电压门控Na⁺通道——三态（★考点）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730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静息态(关)→激活态(开，快速内流)→失活态(关，不可即开)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去极化到阈电位：激活门(m)开放→Na⁺爆发性内流→再生性正反馈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166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达峰后：失活门(h)关闭→Na⁺通道失活→内流停止(必然复极)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9424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电压门控K⁺通道——慢开慢关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9232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去极化开始后延迟开放(慢)，复极期才充分开放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950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K⁺外流使膜电位回落；复极完成后通道缓慢关闭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8668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D64545"/>
                </a:solidFill>
                <a:latin typeface="微软雅黑"/>
              </a:rPr>
              <a:t>★考点：Na⁺通道「快开快关带失活」、K⁺通道「慢开慢关不失活」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84448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时序总结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27348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阈电位→Na⁺通道开→Na⁺内流(陡升)→Na⁺失活+K⁺开→K⁺外流(下降)→K⁺通道缓关→回RP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914400"/>
            <a:ext cx="3429000" cy="21031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969264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A6FC4"/>
                </a:solidFill>
                <a:latin typeface="微软雅黑"/>
              </a:rPr>
              <a:t>配图建议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1280160"/>
            <a:ext cx="3209544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43447"/>
                </a:solidFill>
                <a:latin typeface="微软雅黑"/>
              </a:rPr>
              <a:t>上下对照时序图：上=AP波形；中=Na⁺通道状态条(静息→激活→失活三色带)；下=K⁺通道状态条(关→延迟开→缓关)；竖虚线对齐「阈电位点」「峰电位点」「复极完成点」，箭头标Na⁺内流(红)/K⁺外流(绿)。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3145536"/>
            <a:ext cx="3429000" cy="2670048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3200400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A35A1A"/>
                </a:solidFill>
                <a:latin typeface="微软雅黑"/>
              </a:rPr>
              <a:t>教师备注（口头讲解话术）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3493008"/>
            <a:ext cx="3209544" cy="22494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4A12"/>
                </a:solidFill>
                <a:latin typeface="微软雅黑"/>
              </a:rPr>
              <a:t>用两把「门」讲：Na⁺门是自动门禁——开了之后1ms就锁死(失活)，锁死后必须等复极才解锁；K⁺门是弹簧门——推一下慢慢开、慢慢关。再生性正反馈强调「正反馈而非负反馈」是AP爆发的原因。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338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阈电位 · 阈刺激 · 阈强度：三者逻辑关系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B7B8D"/>
                </a:solidFill>
                <a:latin typeface="微软雅黑"/>
              </a:rPr>
              <a:t>10/20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三概念定义（★考点·易混）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730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阈刺激/阈强度 Threshold stimulus：能引起AP的最小刺激强度(针对「刺激」)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阈下刺激：低于阈强度→仅局部电位，不能产生AP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166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阈电位 Threshold potential：能触发AP的膜电位临界值(针对「膜电位」，约-55mV)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9424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逻辑链（背诵顺序）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9232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阈刺激/阈上刺激 → 膜去极化达到阈电位 → Na⁺通道大量开放 → 再生性正反馈 → 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950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D64545"/>
                </a:solidFill>
                <a:latin typeface="微软雅黑"/>
              </a:rPr>
              <a:t>★考点：刺激作用于「膜外」，阈电位是「膜内」临界值；刺激是条件，阈电位是机制节点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8668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刺激强度↑→RP到阈电位距离缩短→更易达到→兴奋性↑(与P14衔接)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84448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常考判断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27348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「只要刺激足够强，AP幅度就更大」→错(全或无)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24528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「阈下刺激不引起任何电位变化」→错(有局部电位)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914400"/>
            <a:ext cx="3429000" cy="21031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969264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A6FC4"/>
                </a:solidFill>
                <a:latin typeface="微软雅黑"/>
              </a:rPr>
              <a:t>配图建议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1280160"/>
            <a:ext cx="3209544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43447"/>
                </a:solidFill>
                <a:latin typeface="微软雅黑"/>
              </a:rPr>
              <a:t>三栏关系图：左「刺激轴」(阈下/阈/阈上三档箭头)、中「膜电位轴」(-70→-55阈电位虚线→0→+30)、右「结果」(局部电位/AP)；红色虚线横贯标注「阈电位=-55mV」；底部流程条：阈刺激→达阈电位→Na⁺通道爆发→AP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145536"/>
            <a:ext cx="3429000" cy="2670048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3200400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A35A1A"/>
                </a:solidFill>
                <a:latin typeface="微软雅黑"/>
              </a:rPr>
              <a:t>教师备注（口头讲解话术）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493008"/>
            <a:ext cx="3209544" cy="22494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4A12"/>
                </a:solidFill>
                <a:latin typeface="微软雅黑"/>
              </a:rPr>
              <a:t>画「起跑线-终点线」：静息是起跑线，阈电位是终点线，刺激强度决定能不能跑到终点；跑没跑过线决定AP产生与否，与跑多快(刺激再大)无关。当堂出2道判断题现场举手作答。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338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动作电位的传导：局部电流学说 · 跳跃式传导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B7B8D"/>
                </a:solidFill>
                <a:latin typeface="微软雅黑"/>
              </a:rPr>
              <a:t>11/20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① 局部电流学说（无髓纤维）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730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已兴奋段(内正外负)与邻近静息段(外正外负)间存在电位差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形成局部电流→邻近膜去极化达阈电位→产生新AP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166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D64545"/>
                </a:solidFill>
                <a:latin typeface="微软雅黑"/>
              </a:rPr>
              <a:t>★考点：AP「不衰减传导」的原因——每次都有RP能量补充，非消耗传递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9424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② 有髓神经纤维·跳跃式传导(Saltatory)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9232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髓鞘处绝缘、电容小→电流只能在郎飞结(Node of Ranvier)间跳跃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950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AP只在郎飞结处产生→跳跃传导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8668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D64545"/>
                </a:solidFill>
                <a:latin typeface="微软雅黑"/>
              </a:rPr>
              <a:t>★考点：意义=传导速度↑(快100倍级)、能量消耗↓(少泵Na⁺)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84448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对比小结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27348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无髓：连续性传导(一格一格)；有髓：跳跃式传导(跨格跳)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914400"/>
            <a:ext cx="3429000" cy="21031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969264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A6FC4"/>
                </a:solidFill>
                <a:latin typeface="微软雅黑"/>
              </a:rPr>
              <a:t>配图建议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1280160"/>
            <a:ext cx="3209544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43447"/>
                </a:solidFill>
                <a:latin typeface="微软雅黑"/>
              </a:rPr>
              <a:t>左图：一段神经纤维，兴奋段(红，膜内+)与静息段(蓝，膜外+)间画弧形局部电流箭头，右侧显示下一个AP即将产生；右图：有髓纤维纵剖，蓝色髓鞘包裹、郎飞结裸露，红色AP脉冲只在结处出现，虚线弧形箭头标「跳跃」，旁注「速度快、耗能少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3145536"/>
            <a:ext cx="3429000" cy="2670048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3200400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A35A1A"/>
                </a:solidFill>
                <a:latin typeface="微软雅黑"/>
              </a:rPr>
              <a:t>教师备注（口头讲解话术）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3493008"/>
            <a:ext cx="3209544" cy="22494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4A12"/>
                </a:solidFill>
                <a:latin typeface="微软雅黑"/>
              </a:rPr>
              <a:t>走廊学生手拉手传「去极化」的模拟：相邻同学手递手=局部电流；跳格子=有髓跳跃。追问：「为什么局部电流能让邻近膜达到阈电位？」——因为局部电流本质是「电刺激」，强度足以触发AP。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338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局部电位 Local Potential（电紧张电位）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B7B8D"/>
                </a:solidFill>
                <a:latin typeface="微软雅黑"/>
              </a:rPr>
              <a:t>12/20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产生条件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730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阈下刺激直接作用于膜→部分电压门控Na⁺通道开放→少量Na⁺内流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不足以达到阈电位→不能产生AP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52244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四大特点（★考点·与AP对比的基础）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9514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① 不具有「全或无」：随刺激强度增大而增大（等级性）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9232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② 可衰减传导：以电紧张形式向四周扩布，随距离衰减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950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③ 可叠加/总和：时间总和(连续刺激)、空间总和(多点同时)→可达阈电位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8668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④ 没有不应期：可产生多个幅度叠加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84448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引申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27348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总和达到阈电位→即可触发AP（局部电位是「AP的引信」）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914400"/>
            <a:ext cx="3429000" cy="21031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969264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A6FC4"/>
                </a:solidFill>
                <a:latin typeface="微软雅黑"/>
              </a:rPr>
              <a:t>配图建议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1280160"/>
            <a:ext cx="3209544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43447"/>
                </a:solidFill>
                <a:latin typeface="微软雅黑"/>
              </a:rPr>
              <a:t>水波纹示意图：中心小石子(阈下刺激)入水，同心圆波纹向外扩散并逐渐变淡(标「衰减」)；右侧两小图：上方「时间总和」两波纹先后叠加、下方「空间总和」两处波纹相向叠加，叠加后越过红色虚线「阈电位」后出现AP脉冲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3145536"/>
            <a:ext cx="3429000" cy="2670048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3200400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A35A1A"/>
                </a:solidFill>
                <a:latin typeface="微软雅黑"/>
              </a:rPr>
              <a:t>教师备注（口头讲解话术）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3493008"/>
            <a:ext cx="3209544" cy="22494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4A12"/>
                </a:solidFill>
                <a:latin typeface="微软雅黑"/>
              </a:rPr>
              <a:t>用「涟漪」比喻局部电位：石子(阈下刺激)扔进水里起小波纹，越近越大、越远越小(衰减)；多颗石子同时扔，波纹叠加起来就能掀大浪(总和→AP)。强调局部电位是分级的、AP是全或无的。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338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兴奋性周期的考点延伸：为什么绝对不应期决定最高兴奋频率？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B7B8D"/>
                </a:solidFill>
                <a:latin typeface="微软雅黑"/>
              </a:rPr>
              <a:t>15/20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核心逻辑（★考点）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730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绝对不应期内无论多强刺激都不能产生新AP → 同一细胞两次AP必然被隔开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最高兴奋频率 = 1 / (绝对不应期时长)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1660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例：ARP=3ms → 最高频率≈333次/秒；ARP=5ms → 200次/秒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9424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应用解释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9232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神经纤维ARP短→频率高(可达1000Hz)；心肌ERP长→频率低(数百次/分)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9504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D64545"/>
                </a:solidFill>
                <a:latin typeface="微软雅黑"/>
              </a:rPr>
              <a:t>★考点：AP脉冲式、不融合的根本原因=绝对不应期存在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87268"/>
            <a:ext cx="7955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A6FC4"/>
                </a:solidFill>
                <a:latin typeface="微软雅黑"/>
              </a:rPr>
              <a:t>易错点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30168"/>
            <a:ext cx="7818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• 「最高兴奋频率」由绝对不应期决定，不是相对不应期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914400"/>
            <a:ext cx="3429000" cy="21031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8" y="969264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A6FC4"/>
                </a:solidFill>
                <a:latin typeface="微软雅黑"/>
              </a:rPr>
              <a:t>配图建议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1280160"/>
            <a:ext cx="3209544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43447"/>
                </a:solidFill>
                <a:latin typeface="微软雅黑"/>
              </a:rPr>
              <a:t>公式框图：大号「f_max = 1 / T_绝对不应期」居中；下方两根横向时间条对比：神经纤维(红段短，标3ms→333Hz)、心肌(红段长，标~300ms→低频)；右侧一串AP脉冲串，脉冲间隔不小于红段长度，双向箭头标「最小间隔=ARP」。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3145536"/>
            <a:ext cx="3429000" cy="2670048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3200400"/>
            <a:ext cx="3209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A35A1A"/>
                </a:solidFill>
                <a:latin typeface="微软雅黑"/>
              </a:rPr>
              <a:t>教师备注（口头讲解话术）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3493008"/>
            <a:ext cx="3209544" cy="22494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4A12"/>
                </a:solidFill>
                <a:latin typeface="微软雅黑"/>
              </a:rPr>
              <a:t>用「相机快门」比喻：快门(绝对不应期)没打开前按多少次按钮都拍不了，两次拍照最小间隔=快门复位时间，最高连拍频率=1/快门时间。顺带点心肌ARP长→心率有上限→不易强直收缩(临床安全意义)。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338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重点对比表格：局部电位 VS 动作电位（核心考点）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B7B8D"/>
                </a:solidFill>
                <a:latin typeface="微软雅黑"/>
              </a:rPr>
              <a:t>13/20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60120"/>
            <a:ext cx="2194560" cy="566928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06984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比较项目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2532888" y="960120"/>
            <a:ext cx="4663440" cy="566928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32888" y="106984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局部电位</a:t>
            </a:r>
          </a:p>
        </p:txBody>
      </p:sp>
      <p:sp>
        <p:nvSpPr>
          <p:cNvPr id="9" name="Rectangle 8"/>
          <p:cNvSpPr/>
          <p:nvPr/>
        </p:nvSpPr>
        <p:spPr>
          <a:xfrm>
            <a:off x="7196328" y="960120"/>
            <a:ext cx="4663440" cy="566928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96328" y="106984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动作电位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1527048"/>
            <a:ext cx="219456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581912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447"/>
                </a:solidFill>
                <a:latin typeface="微软雅黑"/>
              </a:rPr>
              <a:t>刺激强度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32888" y="1527048"/>
            <a:ext cx="466344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4328" y="1581912"/>
            <a:ext cx="4480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阈下刺激即可，随强度分级变化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96328" y="1527048"/>
            <a:ext cx="466344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1581912"/>
            <a:ext cx="4480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需阈刺激/阈上刺激，全或无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" y="2075688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130552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447"/>
                </a:solidFill>
                <a:latin typeface="微软雅黑"/>
              </a:rPr>
              <a:t>幅度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32888" y="2075688"/>
            <a:ext cx="4663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4328" y="2130552"/>
            <a:ext cx="4480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小，随刺激增大而增大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96328" y="2075688"/>
            <a:ext cx="4663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7768" y="2130552"/>
            <a:ext cx="4480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大，恒定不随刺激增大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" y="2624328"/>
            <a:ext cx="219456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2679192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447"/>
                </a:solidFill>
                <a:latin typeface="微软雅黑"/>
              </a:rPr>
              <a:t>传导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32888" y="2624328"/>
            <a:ext cx="466344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4328" y="2679192"/>
            <a:ext cx="4480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电紧张扩布，随距离衰减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96328" y="2624328"/>
            <a:ext cx="466344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87768" y="2679192"/>
            <a:ext cx="4480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不衰减传导，幅度波形不变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" y="3172968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3227832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447"/>
                </a:solidFill>
                <a:latin typeface="微软雅黑"/>
              </a:rPr>
              <a:t>叠加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32888" y="3172968"/>
            <a:ext cx="4663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24328" y="3227832"/>
            <a:ext cx="4480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可时间/空间总和叠加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96328" y="3172968"/>
            <a:ext cx="4663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87768" y="3227832"/>
            <a:ext cx="4480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有绝对不应期，不可叠加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" y="3721608"/>
            <a:ext cx="219456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" y="3776472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447"/>
                </a:solidFill>
                <a:latin typeface="微软雅黑"/>
              </a:rPr>
              <a:t>不应期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32888" y="3721608"/>
            <a:ext cx="466344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24328" y="3776472"/>
            <a:ext cx="4480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96328" y="3721608"/>
            <a:ext cx="466344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87768" y="3776472"/>
            <a:ext cx="4480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有（绝对不应期）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" y="4270248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" y="4325112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447"/>
                </a:solidFill>
                <a:latin typeface="微软雅黑"/>
              </a:rPr>
              <a:t>产生机制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32888" y="4270248"/>
            <a:ext cx="4663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24328" y="4325112"/>
            <a:ext cx="4480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部分Na⁺通道开放，少量Na⁺内流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96328" y="4270248"/>
            <a:ext cx="4663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87768" y="4325112"/>
            <a:ext cx="4480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Na⁺通道大量开放，再生性正反馈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8" y="4818888"/>
            <a:ext cx="219456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9768" y="4873752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447"/>
                </a:solidFill>
                <a:latin typeface="微软雅黑"/>
              </a:rPr>
              <a:t>本质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32888" y="4818888"/>
            <a:ext cx="466344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24328" y="4873752"/>
            <a:ext cx="4480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分级电位，不是「兴奋」的标志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96328" y="4818888"/>
            <a:ext cx="466344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87768" y="4873752"/>
            <a:ext cx="4480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兴奋的标志，可触发传导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5257800"/>
            <a:ext cx="11430000" cy="54864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5312664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43447"/>
                </a:solidFill>
                <a:latin typeface="微软雅黑"/>
              </a:rPr>
              <a:t>配图建议：两栏对比表格图：左栏浅蓝「局部电位」列、右栏浅橙「动作电位」列，中间深蓝分隔线；每行左侧项目名加粗；底部大号VS图标；关键差异词(全或无/不衰减/有不应期)红色加粗。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" y="5870448"/>
            <a:ext cx="11430000" cy="777240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5925312"/>
            <a:ext cx="1115568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7A4A12"/>
                </a:solidFill>
                <a:latin typeface="微软雅黑"/>
              </a:rPr>
              <a:t>教师备注：本页是核心考点页，逐行讲+让学生在笔记本上抄这张表。重点强调分水岭：局部电位「分级、可衰减、可叠加」vs AP「全或无、不衰减、有不应期」。期末考简答题「试比较局部电位与动作电位」按此表给分。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338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细胞兴奋性的周期性变化：四个时期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B7B8D"/>
                </a:solidFill>
                <a:latin typeface="微软雅黑"/>
              </a:rPr>
              <a:t>14/20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56235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914400"/>
            <a:ext cx="5623560" cy="457200"/>
          </a:xfrm>
          <a:prstGeom prst="roundRect">
            <a:avLst>
              <a:gd name="adj" fmla="val 5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9264"/>
            <a:ext cx="5349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绝对不应期 ARP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53492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对应时相：AP锋电位期间</a:t>
            </a:r>
          </a:p>
          <a:p>
            <a:pPr algn="l">
              <a:lnSpc>
                <a:spcPct val="118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机制：Na⁺通道全部失活，无论多强刺激均不能产生新AP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D64545"/>
                </a:solidFill>
                <a:latin typeface="微软雅黑"/>
              </a:rPr>
              <a:t>兴奋性：0（最低）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14400"/>
            <a:ext cx="56235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914400"/>
            <a:ext cx="5623560" cy="457200"/>
          </a:xfrm>
          <a:prstGeom prst="roundRect">
            <a:avLst>
              <a:gd name="adj" fmla="val 5000"/>
            </a:avLst>
          </a:prstGeom>
          <a:solidFill>
            <a:srgbClr val="F0B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969264"/>
            <a:ext cx="5349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相对不应期 RRP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444752"/>
            <a:ext cx="53492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对应时相：负后电位期</a:t>
            </a:r>
          </a:p>
          <a:p>
            <a:pPr algn="l">
              <a:lnSpc>
                <a:spcPct val="118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机制：部分Na⁺通道复活，阈电位上移，阈上刺激才可能引起AP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F0B266"/>
                </a:solidFill>
                <a:latin typeface="微软雅黑"/>
              </a:rPr>
              <a:t>兴奋性：逐渐恢复(&lt;100%)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017520"/>
            <a:ext cx="56235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3017520"/>
            <a:ext cx="5623560" cy="457200"/>
          </a:xfrm>
          <a:prstGeom prst="roundRect">
            <a:avLst>
              <a:gd name="adj" fmla="val 5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72384"/>
            <a:ext cx="5349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超常期 SNP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47872"/>
            <a:ext cx="53492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对应时相：正后电位早期</a:t>
            </a:r>
          </a:p>
          <a:p>
            <a:pPr algn="l">
              <a:lnSpc>
                <a:spcPct val="118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机制：膜电位接近阈电位，阈下刺激也可能引起AP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2E9E6B"/>
                </a:solidFill>
                <a:latin typeface="微软雅黑"/>
              </a:rPr>
              <a:t>兴奋性：稍高于正常(&gt;100%)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17520"/>
            <a:ext cx="56235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3017520"/>
            <a:ext cx="5623560" cy="457200"/>
          </a:xfrm>
          <a:prstGeom prst="roundRect">
            <a:avLst>
              <a:gd name="adj" fmla="val 5000"/>
            </a:avLst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072384"/>
            <a:ext cx="5349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低常期 LNP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547872"/>
            <a:ext cx="534924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对应时相：正后电位后期</a:t>
            </a:r>
          </a:p>
          <a:p>
            <a:pPr algn="l">
              <a:lnSpc>
                <a:spcPct val="118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机制：膜超极化，距阈电位更远，需阈上刺激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1A6FC4"/>
                </a:solidFill>
                <a:latin typeface="微软雅黑"/>
              </a:rPr>
              <a:t>兴奋性：略低于正常(&lt;100%)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074920"/>
            <a:ext cx="5623560" cy="150876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129784"/>
            <a:ext cx="53949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A6FC4"/>
                </a:solidFill>
                <a:latin typeface="微软雅黑"/>
              </a:rPr>
              <a:t>配图建议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243447"/>
                </a:solidFill>
                <a:latin typeface="微软雅黑"/>
              </a:rPr>
              <a:t>AP波形+兴奋性双轨图：上方AP波形下挂四条色带(红=绝对不应期、橙=相对不应期、绿=超常期、蓝=低常期)，下方同步画「兴奋性水平曲线」，绝对不应期段为0贴底线、相对不应期回升、超常期略高于虚线正常值、低常期略低于虚线；两图时间轴严格对齐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5074920"/>
            <a:ext cx="5623560" cy="1508760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5129784"/>
            <a:ext cx="53949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A35A1A"/>
                </a:solidFill>
                <a:latin typeface="微软雅黑"/>
              </a:rPr>
              <a:t>教师备注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7A4A12"/>
                </a:solidFill>
                <a:latin typeface="微软雅黑"/>
              </a:rPr>
              <a:t>画在AP波形上逐一标注四段。绝对不应期对应锋电位——Na⁺通道全失活，这是全或无+不融合的结构基础。超常期对应正后电位(离阈电位近)，低常期对应正后电位后期(超极化，更远)——方向别讲反。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338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临床联系：心电图/肌电图 · 利多卡因 · 高钾低钾血症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B7B8D"/>
                </a:solidFill>
                <a:latin typeface="微软雅黑"/>
              </a:rPr>
              <a:t>16/20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379476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914400"/>
            <a:ext cx="3794760" cy="457200"/>
          </a:xfrm>
          <a:prstGeom prst="roundRect">
            <a:avLst>
              <a:gd name="adj" fmla="val 5000"/>
            </a:avLst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969264"/>
            <a:ext cx="356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① 心电图/肌电图的电生理基础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1444752"/>
            <a:ext cx="3547872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43447"/>
                </a:solidFill>
                <a:latin typeface="微软雅黑"/>
              </a:rPr>
              <a:t>• ECG：心室肌细胞AP同步总和的体表记录；QRS波≈心室去极化、T波≈复极化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43447"/>
                </a:solidFill>
                <a:latin typeface="微软雅黑"/>
              </a:rPr>
              <a:t>• EMG：运动单位AP的时空总和；神经传导速度检测=测有髓纤维跳跃传导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7" y="914400"/>
            <a:ext cx="379476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70247" y="914400"/>
            <a:ext cx="3794760" cy="457200"/>
          </a:xfrm>
          <a:prstGeom prst="roundRect">
            <a:avLst>
              <a:gd name="adj" fmla="val 5000"/>
            </a:avLst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9975" y="969264"/>
            <a:ext cx="356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② 钠通道阻滞剂·利多卡因（★考点）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3" y="1444752"/>
            <a:ext cx="3547872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43447"/>
                </a:solidFill>
                <a:latin typeface="微软雅黑"/>
              </a:rPr>
              <a:t>• 结合电压门控Na⁺通道失活态——优先与失活态结合(状态依赖性)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43447"/>
                </a:solidFill>
                <a:latin typeface="微软雅黑"/>
              </a:rPr>
              <a:t>• 抑制Na⁺内流→降低0期去极化速度→传导减慢/阻止异位快速心律失常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43447"/>
                </a:solidFill>
                <a:latin typeface="微软雅黑"/>
              </a:rPr>
              <a:t>• 局麻原理：阻断神经Na⁺通道→阻断AP产生与传导→痛觉信号不能上传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4" y="914400"/>
            <a:ext cx="379476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74734" y="914400"/>
            <a:ext cx="3794760" cy="457200"/>
          </a:xfrm>
          <a:prstGeom prst="roundRect">
            <a:avLst>
              <a:gd name="adj" fmla="val 5000"/>
            </a:avLst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2" y="969264"/>
            <a:ext cx="356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③ 高钾/低钾血症（★高频考点）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0" y="1444752"/>
            <a:ext cx="3547872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43447"/>
                </a:solidFill>
                <a:latin typeface="微软雅黑"/>
              </a:rPr>
              <a:t>• 高钾：膜外K⁺↑→浓度差↓→K⁺外流↓→RP绝对值↓(去极化)→Na⁺通道部分失活→兴奋性先高后低(严重时AP幅度↓、传导↓→心脏停搏风险)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43447"/>
                </a:solidFill>
                <a:latin typeface="微软雅黑"/>
              </a:rPr>
              <a:t>• 低钾：膜外K⁺↓→浓度差↑→K⁺外流↑→RP绝对值↑(超极化)→距阈电位远→兴奋性↓(但临床上因复极改变也可致心律失常)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160520"/>
            <a:ext cx="5623560" cy="16459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215384"/>
            <a:ext cx="5394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A6FC4"/>
                </a:solidFill>
                <a:latin typeface="微软雅黑"/>
              </a:rPr>
              <a:t>配图建议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243447"/>
                </a:solidFill>
                <a:latin typeface="微软雅黑"/>
              </a:rPr>
              <a:t>三栏卡片图：左=ECG波形(P/QRS/T标注去极复极)；中=Na⁺通道三态图+利多卡因「锁住失活态门」锁头图标；右=天平图对比：高钾(膜外K⁺多、RP上移-70→-50)vs低钾(膜外K⁺少、RP下移-70→-90)，分别配兴奋性↑/↓箭头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160520"/>
            <a:ext cx="5623560" cy="1645920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215384"/>
            <a:ext cx="5394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A35A1A"/>
                </a:solidFill>
                <a:latin typeface="微软雅黑"/>
              </a:rPr>
              <a:t>教师备注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7A4A12"/>
                </a:solidFill>
                <a:latin typeface="微软雅黑"/>
              </a:rPr>
              <a:t>高钾是急症：讲「轻度高钾兴奋性一过性升高(心跳快)、重度则AP低幅度传导慢(心跳慢→停)」这个双相过程是考点。低钾对心肌影响提示学生注意与骨骼肌不同，考试常考「高钾→RP绝对值降低」判断题。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338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本章易错题、易混点汇总辨析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B7B8D"/>
                </a:solidFill>
                <a:latin typeface="微软雅黑"/>
              </a:rPr>
              <a:t>17/20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379476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457200" cy="1481328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969264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A6FC4"/>
                </a:solidFill>
                <a:latin typeface="微软雅黑"/>
              </a:rPr>
              <a:t>1. 局部电位 vs 动作电位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3136392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243447"/>
                </a:solidFill>
                <a:latin typeface="微软雅黑"/>
              </a:rPr>
              <a:t>局部电位=分级、可衰减、可叠加、无不应期；AP=全或无、不衰减、不可叠加、有绝对不应期。答「阈下刺激能否引起电位变化」→能(局部电位)，但不能引起兴奋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7" y="914400"/>
            <a:ext cx="379476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0247" y="914400"/>
            <a:ext cx="457200" cy="1481328"/>
          </a:xfrm>
          <a:prstGeom prst="rect">
            <a:avLst/>
          </a:prstGeom>
          <a:solidFill>
            <a:srgbClr val="F0B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7" y="969264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A35A1A"/>
                </a:solidFill>
                <a:latin typeface="微软雅黑"/>
              </a:rPr>
              <a:t>2. 阈刺激 vs 阈电位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7" y="1298448"/>
            <a:ext cx="3136392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243447"/>
                </a:solidFill>
                <a:latin typeface="微软雅黑"/>
              </a:rPr>
              <a:t>阈刺激=最小刺激强度(膜外条件)；阈电位=膜内电位临界值(机制节点)。刺激是因，阈电位是中间环节，AP是果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4" y="914400"/>
            <a:ext cx="379476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74734" y="914400"/>
            <a:ext cx="457200" cy="1481328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23374" y="969264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A6FC4"/>
                </a:solidFill>
                <a:latin typeface="微软雅黑"/>
              </a:rPr>
              <a:t>3. 绝对不应期 vs 相对不应期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3374" y="1298448"/>
            <a:ext cx="3136392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243447"/>
                </a:solidFill>
                <a:latin typeface="微软雅黑"/>
              </a:rPr>
              <a:t>ARP=Na⁺通道失活、兴奋性0；RRP=部分复活、需阈上刺激。ARP对应锋电位、RRP对应负后电位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505456"/>
            <a:ext cx="379476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505456"/>
            <a:ext cx="457200" cy="1481328"/>
          </a:xfrm>
          <a:prstGeom prst="rect">
            <a:avLst/>
          </a:prstGeom>
          <a:solidFill>
            <a:srgbClr val="F0B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56032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A35A1A"/>
                </a:solidFill>
                <a:latin typeface="微软雅黑"/>
              </a:rPr>
              <a:t>4. 「全或无」误解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889504"/>
            <a:ext cx="3136392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243447"/>
                </a:solidFill>
                <a:latin typeface="微软雅黑"/>
              </a:rPr>
              <a:t>不是「刺激弱就不产生」，而是「达不到阈就不产生，一旦产生幅度固定」——幅度与刺激强度无关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0247" y="2505456"/>
            <a:ext cx="379476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0247" y="2505456"/>
            <a:ext cx="457200" cy="1481328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18887" y="256032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A6FC4"/>
                </a:solidFill>
                <a:latin typeface="微软雅黑"/>
              </a:rPr>
              <a:t>5. 超极化方向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7" y="2889504"/>
            <a:ext cx="3136392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243447"/>
                </a:solidFill>
                <a:latin typeface="微软雅黑"/>
              </a:rPr>
              <a:t>超极化=比静息更负(-90)，去极化=负值变小(-50)。负后电位其实是去极化方向、正后电位是超极化方向(命名易错)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74734" y="2505456"/>
            <a:ext cx="379476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74734" y="2505456"/>
            <a:ext cx="457200" cy="1481328"/>
          </a:xfrm>
          <a:prstGeom prst="rect">
            <a:avLst/>
          </a:prstGeom>
          <a:solidFill>
            <a:srgbClr val="F0B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23374" y="256032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A35A1A"/>
                </a:solidFill>
                <a:latin typeface="微软雅黑"/>
              </a:rPr>
              <a:t>6. RP与Eₖ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3374" y="2889504"/>
            <a:ext cx="3136392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243447"/>
                </a:solidFill>
                <a:latin typeface="微软雅黑"/>
              </a:rPr>
              <a:t>RP≈Eₖ但略低(绝对值)，因少量Na⁺内流+泵的生电性，不是完全等于Eₖ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224528"/>
            <a:ext cx="5623560" cy="155448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279392"/>
            <a:ext cx="5394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A6FC4"/>
                </a:solidFill>
                <a:latin typeface="微软雅黑"/>
              </a:rPr>
              <a:t>配图建议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243447"/>
                </a:solidFill>
                <a:latin typeface="微软雅黑"/>
              </a:rPr>
              <a:t>六宫格辨析卡：每格一个「VS」标题+两行对比要点，左蓝右橙双色块；角标①-⑥编号；关键差异词(全或无/失活/超极化)红色加粗；整体风格类似「知识卡片墙」。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4224528"/>
            <a:ext cx="5623560" cy="1554480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279392"/>
            <a:ext cx="5394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A35A1A"/>
                </a:solidFill>
                <a:latin typeface="微软雅黑"/>
              </a:rPr>
              <a:t>教师备注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7A4A12"/>
                </a:solidFill>
                <a:latin typeface="微软雅黑"/>
              </a:rPr>
              <a:t>这页留5分钟做「快问快答」，把六个辨析做成6张卡片翻转，学生答对得一分。历年期末考简答/选择题几乎都出自这六组，务必让学生用红笔在笔记上标星。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338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课堂小结（极简框架版，方便记笔记）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B7B8D"/>
                </a:solidFill>
                <a:latin typeface="微软雅黑"/>
              </a:rPr>
              <a:t>18/20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914400"/>
            <a:ext cx="3383280" cy="640080"/>
          </a:xfrm>
          <a:prstGeom prst="roundRect">
            <a:avLst>
              <a:gd name="adj" fmla="val 5000"/>
            </a:avLst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987552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细胞电生理 · 一页框架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>
                <a:solidFill>
                  <a:srgbClr val="1A6FC4"/>
                </a:solidFill>
                <a:latin typeface="微软雅黑"/>
              </a:rPr>
              <a:t>电生理框架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828800"/>
            <a:ext cx="91897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874520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① RP(静息电位)：K⁺外流+泵维持→外正内负、-70~-90mV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2432304"/>
            <a:ext cx="91897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478024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② AP(动作电位)：阈电位→Na⁺内流(升)→Na⁺失活+K⁺外流(降)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3035808"/>
            <a:ext cx="91897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3081528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③ 传导：局部电流 / 有髓跳跃式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3639312"/>
            <a:ext cx="91897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3685032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④ 局部电位：阈下→分级、可衰减、可总和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4242816"/>
            <a:ext cx="91897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4288536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⑤ 兴奋性周期：ARP→RRP→SNP→LNP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46320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F0B266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01184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>
                <a:solidFill>
                  <a:srgbClr val="A35A1A"/>
                </a:solidFill>
                <a:latin typeface="微软雅黑"/>
              </a:rPr>
              <a:t>临床锚点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06040" y="4846320"/>
            <a:ext cx="91897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4892040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利多卡因(阻Na⁺失活通道) / 高钾RP↓ / 低钾RP↑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486400"/>
            <a:ext cx="5623560" cy="109728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541264"/>
            <a:ext cx="5394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A6FC4"/>
                </a:solidFill>
                <a:latin typeface="微软雅黑"/>
              </a:rPr>
              <a:t>配图建议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243447"/>
                </a:solidFill>
                <a:latin typeface="微软雅黑"/>
              </a:rPr>
              <a:t>思维导图/树状图：中心蓝色胶囊「细胞电生理」，向右分出5个主枝(RP/AP/传导/局部电位/兴奋性周期)，每枝末端挂2-3个关键词小胶囊；底部单独一枝橙色「临床」挂利多卡因/高钾/低钾三个节点。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5486400"/>
            <a:ext cx="5623560" cy="1097280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5541264"/>
            <a:ext cx="5394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A35A1A"/>
                </a:solidFill>
                <a:latin typeface="微软雅黑"/>
              </a:rPr>
              <a:t>教师备注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7A4A12"/>
                </a:solidFill>
                <a:latin typeface="微软雅黑"/>
              </a:rPr>
              <a:t>让学生合上书，跟着这6行框架口头复述一遍——能复述=听懂了。强调每行都能展开成一道简答题，这页就是「背诵索引」。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338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课后思考题 + 拓展思考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B7B8D"/>
                </a:solidFill>
                <a:latin typeface="微软雅黑"/>
              </a:rPr>
              <a:t>19/20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562356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914400"/>
            <a:ext cx="5623560" cy="457200"/>
          </a:xfrm>
          <a:prstGeom prst="roundRect">
            <a:avLst>
              <a:gd name="adj" fmla="val 5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9264"/>
            <a:ext cx="5394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★课后必做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444752"/>
            <a:ext cx="53492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1. 简述静息电位的产生机制(条件→离子流→电位，8分)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2. 试比较局部电位与动作电位(表格，10分)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3. 为什么绝对不应期决定最高兴奋频率？(6分)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4. 高钾血症患者为何易发生心律失常？(6分)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14400"/>
            <a:ext cx="562356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914400"/>
            <a:ext cx="5623560" cy="457200"/>
          </a:xfrm>
          <a:prstGeom prst="roundRect">
            <a:avLst>
              <a:gd name="adj" fmla="val 5000"/>
            </a:avLst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969264"/>
            <a:ext cx="5394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拓展思考（选做）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444752"/>
            <a:ext cx="53492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5. 利多卡因为什么对「正在发放冲动」的异位节律点作用更强？(状态依赖性)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6. 心电图QRS波宽提示什么电生理改变？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43447"/>
                </a:solidFill>
                <a:latin typeface="微软雅黑"/>
              </a:rPr>
              <a:t>7. Hodgkin-Huxley模型如何用数学描述Na⁺/K⁺电导变化？(了解层面)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114800"/>
            <a:ext cx="5623560" cy="16459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169663"/>
            <a:ext cx="5394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A6FC4"/>
                </a:solidFill>
                <a:latin typeface="微软雅黑"/>
              </a:rPr>
              <a:t>配图建议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243447"/>
                </a:solidFill>
                <a:latin typeface="微软雅黑"/>
              </a:rPr>
              <a:t>作业清单卡片图：左侧红色五角星「★必做」区域列4题，右侧蓝色灯泡「拓展」区域列3题；每题前置序号圆点；底部画铅笔图标+「周五前提交至学习通」便签。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114800"/>
            <a:ext cx="5623560" cy="1645920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169663"/>
            <a:ext cx="5394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A35A1A"/>
                </a:solidFill>
                <a:latin typeface="微软雅黑"/>
              </a:rPr>
              <a:t>教师备注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7A4A12"/>
                </a:solidFill>
                <a:latin typeface="微软雅黑"/>
              </a:rPr>
              <a:t>必做4题对应4个教学目标，提示按「机制三步法」作答。拓展第5题引导学有余力学生查「状态依赖性阻断」，与麻醉学衔接；第7题仅提示有兴趣同学看拓展材料，不作要求。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338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参考文献页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B7B8D"/>
                </a:solidFill>
                <a:latin typeface="微软雅黑"/>
              </a:rPr>
              <a:t>20/20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11064240" cy="658368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E2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69848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1. 王庭槐. 生理学（第9版）. 人民卫生出版社, 2018.（第2章 细胞的基本功能）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55648"/>
            <a:ext cx="11064240" cy="658368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E2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19656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2. 朱大年, 王庭槐. 生理学学习指导与习题集（第3版）. 人民卫生出版社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05456"/>
            <a:ext cx="11064240" cy="658368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E2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69464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3. Boron WF, Boulpaep EL. Medical Physiology (3rd ed.). Elsevier, 2017. Ch.5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55264"/>
            <a:ext cx="11064240" cy="658368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E2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19272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4. Guyton AC, Hall JE. Textbook of Medical Physiology (14th ed.). Elsevier, 2020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05072"/>
            <a:ext cx="11064240" cy="658368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E2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5. 中华医学会心电生理和起搏分会. 心电图标准化与解析建议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11064240" cy="658368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E2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18888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43447"/>
                </a:solidFill>
                <a:latin typeface="微软雅黑"/>
              </a:rPr>
              <a:t>6. 图片来源：自制示意图 / PhysioEx 虚拟实验 / OpenStax Anatomy &amp; Physiology (CC-BY)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577840"/>
            <a:ext cx="5623560" cy="105156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1A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623560"/>
            <a:ext cx="5394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A6FC4"/>
                </a:solidFill>
                <a:latin typeface="微软雅黑"/>
              </a:rPr>
              <a:t>配图建议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243447"/>
                </a:solidFill>
                <a:latin typeface="微软雅黑"/>
              </a:rPr>
              <a:t>简洁文献列表页：顶部蓝色标题条，6条文献用悬挂缩进排列，左侧序号蓝色圆点；右下角小图标：书本+DOI二维码占位框；底部校徽位置留白。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5577840"/>
            <a:ext cx="5623560" cy="1051560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F0B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5623560"/>
            <a:ext cx="5394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A35A1A"/>
                </a:solidFill>
                <a:latin typeface="微软雅黑"/>
              </a:rPr>
              <a:t>教师备注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7A4A12"/>
                </a:solidFill>
                <a:latin typeface="微软雅黑"/>
              </a:rPr>
              <a:t>提示学生教材页码直接翻到第2章第2节，课后配套习题册做「细胞基本功能」章节；英文文献供双语班/考研同学延伸。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